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오프닝 전 3초 정지. 제목만 보여주고 시작.
"자신만의 용기있는 Movement"라는 주제로 올해 초 혼자 다녀온 옐로우나이프 이야기를 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3개를 연속으로. 손을 들게 한다.
"저는 올해 초, 이 세 가지를 한 번에 해봤습니다. 그리고 첫 번째 질문은 반쯤 틀렸다는 걸 알게 됐어요."
오늘 이야기의 두 축 예고: 옐로우나이프와 오로라라는 정보, 그리고 거기서 만난 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결심의 순간을 구체적인 장면 하나로. (예: 어느 날 밤 검색창에 "오로라 혼자"라고 쳤던 순간 / 결제 버튼 앞에서 망설인 시간)
주변 반응을 유쾌하게 나열.
그럼에도 간 이유는 여기서 답하지 않고 "다녀와서 알게 됐다"로 열어둔다. (12번 슬라이드에서 회수)
톤: "용기"라는 단어는 직접 쓰지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처음 듣는 사람도 지도에서 찾을 수 있을 정도로만. 빠르고 명확하게.
- 캐나다 노스웨스트 준주 주도, 인구 약 2만
- 북위 62도, 그레이트슬레이브 호수 북쪽
- 금광 → 다이아몬드 채굴 + 관광
- 시즌: 11월 중순~4월 초 (겨울), 8월 중순~9월 (가을)
- 인천 → 밴쿠버 → 옐로우나이프 [총 이동 시간]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이유를 아이콘 대신 숫자로. 각 15초씩.
관광청 95% 문구 뒤에 본인 실제 관측 횟수를 붙이면 신뢰가 생긴다.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원리 설명은 40초 이내.
태양풍 → 자기장 → 극지방 → 대기와 충돌 → 빛.
색은 기체와 높이: 산소 초록/빨강, 질소 보라·파랑.
"지금이 가기 좋은 때"라는 정보로 마무리: 2024~2026 극대기.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여기가 3번 구간의 핵심. 솔직하게, 그러나 실망시키지 않게.
"그러니 기대를 낮추라는 말이 아닙니다. 기대의 방향을 바꾸라는 말입니다. 색이 아니라, 움직임을."
비교 이미지는 같은 사진의 채도만 낮추면 만들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웃음 구간. 구체적일수록 웃는다. 에피소드는 2개 이내.
이 구간이 가장 루즈해질 위험이 있으니 빠르게.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정보(방한, 관측 방식)를 이야기 안에 녹인다.
마지막 두 줄에서 감정선을 슬쩍 올린다. 혼자 기다리며 든 생각 한두 개. [본인 경험으로 교체]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전체에서 가장 천천히, 가장 조용하게.
1. "처음엔 구름인 줄 알았습니다." 옆 사람이 알려줬거나, 카메라를 대보고 알았거나. [실제 상황]
2. 잠깐의 당황. "이게 다야?"
3. 그런데 하늘이 움직이기 시작했다. 커튼처럼 흔들리고, 흘러가고, 머리 위에서 터지듯 퍼지는 순간. 형용사보다 동사로.
4. 그 순간 든 감각 한 가지. [소리가 사라진 느낌 / 내가 아주 작아진 느낌]
말을 줄이고 영상이 말하게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문장만 말하고 3초 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발표의 진짜 주제. 3번 슬라이드에서 열어둔 "왜 갔는지"의 답이 여기서 나온다.
"나는 이런 사람이구나"는 2개 이내, 각각 장면 하나와 함께.
(선택) The 50 Book: "50은 끝이 아니라 재정의"가 본인 상황과 맞으면 한 문장만. 안 맞으면 뺀다.
톤: 교훈으로 끝내지 않기. "저는 이랬습니다"까지만.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감정선이 올라간 뒤 잠깐 내려주는 쉼표. 유쾌하게, 사진 위주로.
도시 분위기 한 줄: 낮이 5~6시간뿐인 겨울, 작고 조용하고, 사람들이 이 추위를 아무렇지 않게 사는 모습.
20분 버전이면 이 슬라이드는 30초.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슬라이드에 다 적혀 있으니 "사진 찍으세요" 한마디로 시간 절약. 2분, 20분 버전이면 1분.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줄씩, 리듬 살려서. 각 줄 사이에 숨 한 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 후 화면을 3초 그대로 둔다. 그 다음 Q&amp;A.
예상 질문: 혼자 무섭지 않았나요? / 총 비용은? / 며칠이 적당한가요? / 못 보면 환불되나요? (안 됨) / 사진은 뭘로 찍었나요?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자신만의 용기있는 Movement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40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영하 40도에서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기다린 이유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떠난 옐로우나이프에서 본 움직이는 하늘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초  ·  Yellowknife, Canada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6355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슬라이드 배경은 직접 찍은 오로라 사진으로 바꿔도 좋습니다 (초록이 잘 나온 사진일수록 뒤의 반전이 커집니다)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08792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029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한 번 들어봐 주세요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FA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828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오로라가 초록색이라고 알고 계신 분?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FA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3063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영하 40도를 경험해 보신 분?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297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FA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4297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해외여행 가보신 분?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486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올해 초, 이 세 가지를 한 번에 해봤습니다.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첫 번째 질문은 반쯤 틀렸다는 걸 알게 됐어요.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08792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029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혼자, 왜 옐로우나이프였나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"혼자?"</a:t>
            </a:r>
            <a:endParaRPr lang="en-US" sz="3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"거길?"</a:t>
            </a:r>
            <a:endParaRPr lang="en-US" sz="3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 추위에?"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605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주변에서 들은 말들입니다.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그때는 왜 가고 싶은지 저도 정확히 몰랐습니다.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다녀와서야 알게 됐고, 그 이야기는 뒤에서 하겠습니다.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0" y="1600200"/>
            <a:ext cx="4846320" cy="4389120"/>
          </a:xfrm>
          <a:prstGeom prst="roundRect">
            <a:avLst>
              <a:gd name="adj" fmla="val 125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EDCB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583680" y="1600200"/>
            <a:ext cx="4846320" cy="43891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항공권 결제 화면 캡처, 또는 여행 준비 메모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결심의 순간이 보이는 사진 1장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08792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옐로우나이프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029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지구 위에서 여기쯤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62°N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북위 62도, 북극권 바로 아래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2만 명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57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캐나다 노스웨스트 준주의 주도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251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240일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983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오로라 관측 가능일 (관광청 기준)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5321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그레이트슬레이브 호수 북쪽 기슭. 원래 금광 도시였고, 지금은 다이아몬드와 관광의 도시.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가는 길: 인천 → 밴쿠버 → 옐로우나이프  [총 이동 시간 채우기]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4846320" cy="4389120"/>
          </a:xfrm>
          <a:prstGeom prst="roundRect">
            <a:avLst>
              <a:gd name="adj" fmla="val 125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EDCB6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583680" y="1600200"/>
            <a:ext cx="4846320" cy="43891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캐나다 지도 캡처에 점 하나 찍은 이미지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 비행기 창밖 / 공항 도착 사진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08792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옐로우나이프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029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하필 여기서 오로라가 잘 보일까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331464" cy="3017520"/>
          </a:xfrm>
          <a:prstGeom prst="roundRect">
            <a:avLst>
              <a:gd name="adj" fmla="val 1818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FA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606040"/>
            <a:ext cx="2691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오로라 오벌 바로 아래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200400"/>
            <a:ext cx="2691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오로라가 가장 자주 나타나는 고리 모양의 띠가 옐로우나이프 상공을 지납니다.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28744" y="1691640"/>
            <a:ext cx="3331464" cy="3017520"/>
          </a:xfrm>
          <a:prstGeom prst="roundRect">
            <a:avLst>
              <a:gd name="adj" fmla="val 1818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48784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FA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748784" y="2606040"/>
            <a:ext cx="2691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맑은 하늘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48784" y="3200400"/>
            <a:ext cx="2691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내륙 대륙성 기후라 겨울에 구름이 적습니다. 흐리면 아무리 강한 오로라도 못 봅니다.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5968" y="1691640"/>
            <a:ext cx="3331464" cy="3017520"/>
          </a:xfrm>
          <a:prstGeom prst="roundRect">
            <a:avLst>
              <a:gd name="adj" fmla="val 1818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46008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FA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446008" y="2606040"/>
            <a:ext cx="2691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평평하고 어두운 땅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446008" y="3200400"/>
            <a:ext cx="2691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산이 없어 하늘이 넓고, 도시 밖으로 10분만 나가도 완전히 깜깜합니다.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120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관광청은 "3박 머물면 관측 확률 95%"라고 말합니다.  저는 [3박 중 __번] 봤습니다.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시즌: 11월 중순~4월 초 (겨울)  ·  8월 중순~9월 (가을, 덜 춥고 호수에 비친 오로라)  ·  저는 [1월/2월]에 갔습니다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08792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오로라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029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태양이 지구를 건드려서 생기는 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97280" y="2103120"/>
            <a:ext cx="1463040" cy="1463040"/>
          </a:xfrm>
          <a:prstGeom prst="ellipse">
            <a:avLst/>
          </a:prstGeom>
          <a:solidFill>
            <a:srgbClr val="F2C46B"/>
          </a:solidFill>
          <a:ln w="12700">
            <a:solidFill>
              <a:srgbClr val="F2C4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3657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2514600"/>
            <a:ext cx="2011680" cy="0"/>
          </a:xfrm>
          <a:prstGeom prst="line">
            <a:avLst/>
          </a:prstGeom>
          <a:noFill/>
          <a:ln w="15875">
            <a:solidFill>
              <a:srgbClr val="4FA88A"/>
            </a:solidFill>
            <a:prstDash val="dash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2834640"/>
            <a:ext cx="2011680" cy="0"/>
          </a:xfrm>
          <a:prstGeom prst="line">
            <a:avLst/>
          </a:prstGeom>
          <a:noFill/>
          <a:ln w="15875">
            <a:solidFill>
              <a:srgbClr val="4FA88A"/>
            </a:solidFill>
            <a:prstDash val="dash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3154680"/>
            <a:ext cx="2011680" cy="0"/>
          </a:xfrm>
          <a:prstGeom prst="line">
            <a:avLst/>
          </a:prstGeom>
          <a:noFill/>
          <a:ln w="15875">
            <a:solidFill>
              <a:srgbClr val="4FA88A"/>
            </a:solidFill>
            <a:prstDash val="dash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83464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태양풍 (전기를 띤 입자)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1965960"/>
            <a:ext cx="1737360" cy="173736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1691640"/>
            <a:ext cx="2377440" cy="2286000"/>
          </a:xfrm>
          <a:prstGeom prst="arc">
            <a:avLst>
              <a:gd name="adj1" fmla="val 12000000"/>
              <a:gd name="adj2" fmla="val 20400000"/>
            </a:avLst>
          </a:prstGeom>
          <a:noFill/>
          <a:ln w="25400">
            <a:solidFill>
              <a:srgbClr val="7EDC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1691640"/>
            <a:ext cx="2377440" cy="2286000"/>
          </a:xfrm>
          <a:prstGeom prst="arc">
            <a:avLst>
              <a:gd name="adj1" fmla="val 1200000"/>
              <a:gd name="adj2" fmla="val 9600000"/>
            </a:avLst>
          </a:prstGeom>
          <a:noFill/>
          <a:ln w="25400">
            <a:solidFill>
              <a:srgbClr val="7EDC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3886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지구 자기장을 따라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극지방으로 끌려 들어와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대기와 부딪히며 빛을 냅니다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2029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FD3A6"/>
          </a:solidFill>
          <a:ln w="12700">
            <a:solidFill>
              <a:srgbClr val="5FD3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산소, 100~150km. 가장 흔한 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0" y="28986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6C6C"/>
          </a:solidFill>
          <a:ln w="12700">
            <a:solidFill>
              <a:srgbClr val="E36C6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968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산소, 200km 이상. 아주 강할 때 위쪽에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37673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9C86E0"/>
          </a:solidFill>
          <a:ln w="12700">
            <a:solidFill>
              <a:srgbClr val="9C86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보라·파랑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질소. 커튼 아랫단에 잠깐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태양 활동은 11년 주기. 2024~2026년이 이번 주기의 극대기이고, 올해 초는 그 한가운데였습니다.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715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색은 부딪히는 기체와 높이로 정해집니다.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08792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오로라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029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그런데, 제 눈에 보인 건 이 색이 아니었습니다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134356" cy="3291840"/>
          </a:xfrm>
          <a:prstGeom prst="roundRect">
            <a:avLst>
              <a:gd name="adj" fmla="val 1667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EDCB6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5134356" cy="32918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카메라가 담은 오로라 (원본 사진)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초록이 가장 선명한 사진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23076" y="1600200"/>
            <a:ext cx="5134356" cy="3291840"/>
          </a:xfrm>
          <a:prstGeom prst="roundRect">
            <a:avLst>
              <a:gd name="adj" fmla="val 1667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EDCB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323076" y="1600200"/>
            <a:ext cx="5134356" cy="32918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눈에 보인 오로라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사진의 채도만 낮춘 버전 (회백색 구름처럼)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937760"/>
            <a:ext cx="51343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카메라의 눈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23076" y="4937760"/>
            <a:ext cx="51343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눈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44068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"카메라는 색을 담고, 우리는 움직임을 기억합니다."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9893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어두울 때 일하는 시세포는 명암은 잘 잡지만 색 구분이 약합니다. 카메라는 몇 초 동안 빛을 모으기 때문에 초록이 선명하게 찍힙니다.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08792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801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-40°C</a:t>
            </a:r>
            <a:endParaRPr lang="en-US" sz="8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첫날, 몸이 먼저 배운 것들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숨을 들이쉬면 콧속이 언다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023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배터리가 5분 만에 꺼진다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72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속눈썹에 서리가 앉는다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120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[본인 에피소드 하나 더]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0" y="1280160"/>
            <a:ext cx="4846320" cy="4754880"/>
          </a:xfrm>
          <a:prstGeom prst="roundRect">
            <a:avLst>
              <a:gd name="adj" fmla="val 1154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EDCB6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583680" y="1280160"/>
            <a:ext cx="4846320" cy="475488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영하 40도 인증샷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온도계 화면, 얼어붙은 얼굴, 서리 앉은 속눈썹 중 하나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08792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기다림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029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오로라는 예약이 안 됩니다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방한복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916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 렌탈. 패딩 점프수트, 부츠, 장갑 세트  [업체명, 가격]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핫팩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26060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손보다 발과 휴대폰에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20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방식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3520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투어 (티피 텐트 + 난로 + 셔틀) 또는 렌터카 셀프.  저는 [선택과 이유]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434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44348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 10시부터 새벽 2~3시까지. 하늘을 보다가, 난로 앞에 들어왔다가, 다시 나가기를 반복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394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"여기까지 와서 못 보면 어쩌지."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기다리는 것 말고는 할 게 없는, 낯선 상태.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0" y="1691640"/>
            <a:ext cx="4846320" cy="4480560"/>
          </a:xfrm>
          <a:prstGeom prst="roundRect">
            <a:avLst>
              <a:gd name="adj" fmla="val 1224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EDCB6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583680" y="1691640"/>
            <a:ext cx="4846320" cy="44805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티피 텐트 안, 또는 하늘을 올려다보며 기다리는 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혼자인 게 보이면 더 좋습니다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처음엔 구름인 줄 알았습니다.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725912" cy="5212080"/>
          </a:xfrm>
          <a:prstGeom prst="roundRect">
            <a:avLst>
              <a:gd name="adj" fmla="val 1053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EDCB6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731520" y="1051560"/>
            <a:ext cx="10725912" cy="521208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오로라 영상 20~30초 (소리 없이 또는 현장음만)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영상이 없으면 연속 사진 3장을 이 자리에서 차례로 넘깁니다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7259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색을 보러 온 게 아니라,</a:t>
            </a:r>
            <a:endParaRPr lang="en-US" sz="3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움직임을 보러 온 거구나.</a:t>
            </a:r>
            <a:endParaRPr lang="en-US" sz="3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08792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그날 밤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029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알게 된 나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645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645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기다림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645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645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당황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1645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645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감동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1645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1645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것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237744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25603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혼자였기 때문에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9718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옆에 같이 감탄할 사람이 없으니 감탄이 전부 내 안으로 들어왔습니다. 누구 눈치도 안 보고 원하는 만큼 서 있을 수 있었습니다.  [본인 경험으로 교체]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25196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44348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이런 사람이구나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8463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[여기에 알게 된 점 1~2개. 예: 결과보다 기다리는 과정에서 더 많은 걸 느끼는 사람 / 망설이는 시간은 길지만 한 번 움직이면 끝까지 가는 사람]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2377440"/>
            <a:ext cx="4663440" cy="3566160"/>
          </a:xfrm>
          <a:prstGeom prst="roundRect">
            <a:avLst>
              <a:gd name="adj" fmla="val 1538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EDCB6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766560" y="2377440"/>
            <a:ext cx="4663440" cy="35661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오로라 아래 혼자 서 있는 본인 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뒷모습이어도 좋습니다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6080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오로라는 태양이 지구를 움직여서 생기는 빛입니다. 저한테 그 여행은, 제가 저를 움직여서 생긴 빛이었던 것 같아요.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08792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낮의 옐로우나이프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029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해가 떠 있는 다섯 시간 동안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180076" cy="2103120"/>
          </a:xfrm>
          <a:prstGeom prst="roundRect">
            <a:avLst>
              <a:gd name="adj" fmla="val 260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EDCB6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5180076" cy="21031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개썰매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허스키 팀과 얼어붙은 호수 위를 달린 사진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77356" y="1600200"/>
            <a:ext cx="5180076" cy="2103120"/>
          </a:xfrm>
          <a:prstGeom prst="roundRect">
            <a:avLst>
              <a:gd name="adj" fmla="val 260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EDCB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277356" y="1600200"/>
            <a:ext cx="5180076" cy="21031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얼음길 (Ice Road)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얼어붙은 호수 위 도로, 데타 마을 방향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5180076" cy="2103120"/>
          </a:xfrm>
          <a:prstGeom prst="roundRect">
            <a:avLst>
              <a:gd name="adj" fmla="val 260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EDCB6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731520" y="3977640"/>
            <a:ext cx="5180076" cy="21031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올드타운 · 파일럿스 모뉴먼트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도시와 호수가 한눈에 보이는 언덕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7356" y="3977640"/>
            <a:ext cx="5180076" cy="2103120"/>
          </a:xfrm>
          <a:prstGeom prst="roundRect">
            <a:avLst>
              <a:gd name="adj" fmla="val 260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7EDCB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6277356" y="3977640"/>
            <a:ext cx="5180076" cy="21031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먹은 것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 곤들매기, 바이슨 버거 등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617220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한 것만 남기고 나머지 칸은 지우세요. 말은 사진 캡션 읽듯이 가볍게.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08792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가려는 분들께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029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팁 (사진 찍어 가세요)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72591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714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EDCB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EDCB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6F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12월~3월이 안정적. 달이 없는 그믐 전후가 유리. 최소 3박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6F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밴쿠버 또는 캘거리 경유.  [본인 경로와 대략 가격]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6F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[항공 + 숙소 + 투어 + 렌탈 대략 합계]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6F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현지 렌탈이 답. 안에는 기모 내의 + 울 양말 두 겹. 얼굴 가리개 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6F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카메라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스마트폰 야간 모드로 충분. 삼각대 있으면 좋고, 배터리는 몸에 붙여서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6F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오로라 예보 앱 (KP 지수) + 현지 구름 예보. KP 2~3만 돼도 여기서는 보인다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6F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혼자 가도?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투어 셔틀이 숙소까지 오가고 도시가 작아 무리 없음.  [본인이 느낀 안전/편의]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6F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마음가짐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첫날 못 봐도 괜찮다. 초록색이 아니라 움직임을 기대할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72591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처음엔 초록색이 아니었습니다.</a:t>
            </a:r>
            <a:endParaRPr lang="en-US" sz="2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잠깐 당황했습니다.</a:t>
            </a:r>
            <a:endParaRPr lang="en-US" sz="2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하늘이 움직이기 시작했습니다.</a:t>
            </a:r>
            <a:endParaRPr lang="en-US" sz="2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색을 보러 온 게 아니라, 이 움직임을 보러 온 거구나.</a:t>
            </a:r>
            <a:endParaRPr lang="en-US" sz="2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7EDC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초록빛은 흐렸지만, 제 기억은 더 선명해졌습니다.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6355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배경은 오프닝 사진의 채도를 낮춘 "실제로 본" 버전으로 바꿔도 좋습니다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7259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28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오로라는 태양이 지구를 움직여서 만든 빛이었고,</a:t>
            </a:r>
            <a:endParaRPr lang="en-US" sz="28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2800" b="1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밤은 제가 저를 움직여서 만난 밤이었습니다.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8463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영하 40도에서 기다린 이유</dc:title>
  <dc:subject>PptxGenJS Presentation</dc:subject>
  <dc:creator>PptxGenJS</dc:creator>
  <cp:lastModifiedBy>PptxGenJS</cp:lastModifiedBy>
  <cp:revision>1</cp:revision>
  <dcterms:created xsi:type="dcterms:W3CDTF">2026-09-24T14:46:44Z</dcterms:created>
  <dcterms:modified xsi:type="dcterms:W3CDTF">2026-09-24T14:46:44Z</dcterms:modified>
</cp:coreProperties>
</file>